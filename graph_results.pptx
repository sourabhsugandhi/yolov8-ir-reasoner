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5" r:id="rId9"/>
    <p:sldId id="262" r:id="rId10"/>
    <p:sldId id="263" r:id="rId11"/>
    <p:sldId id="264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04800" y="990600"/>
            <a:ext cx="73914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Experimental Results Summary (Epoch 100</a:t>
            </a:r>
            <a:r>
              <a:rPr lang="en-US" b="1" dirty="0" smtClean="0"/>
              <a:t>)</a:t>
            </a:r>
          </a:p>
          <a:p>
            <a:endParaRPr lang="en-IN" b="1" dirty="0"/>
          </a:p>
          <a:p>
            <a:r>
              <a:rPr lang="en-US" dirty="0"/>
              <a:t>The performance of </a:t>
            </a:r>
            <a:r>
              <a:rPr lang="en-US" b="1" dirty="0"/>
              <a:t>standard YOLOv8</a:t>
            </a:r>
            <a:r>
              <a:rPr lang="en-US" dirty="0"/>
              <a:t> and </a:t>
            </a:r>
            <a:r>
              <a:rPr lang="en-US" b="1" dirty="0"/>
              <a:t>YOLOv8‑IR‑Reasoner</a:t>
            </a:r>
            <a:r>
              <a:rPr lang="en-US" dirty="0"/>
              <a:t> was evaluated after 100 training epochs using identical data, </a:t>
            </a:r>
            <a:r>
              <a:rPr lang="en-US" dirty="0" err="1"/>
              <a:t>hyperparameters</a:t>
            </a:r>
            <a:r>
              <a:rPr lang="en-US" dirty="0"/>
              <a:t>, and augmentation settings.</a:t>
            </a:r>
            <a:br>
              <a:rPr lang="en-US" dirty="0"/>
            </a:br>
            <a:r>
              <a:rPr lang="en-US" dirty="0"/>
              <a:t>Both models were trained on the same FLIR thermal dataset subset.</a:t>
            </a:r>
            <a:endParaRPr lang="en-IN" dirty="0"/>
          </a:p>
          <a:p>
            <a:endParaRPr lang="en-IN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7717429"/>
              </p:ext>
            </p:extLst>
          </p:nvPr>
        </p:nvGraphicFramePr>
        <p:xfrm>
          <a:off x="533400" y="3200400"/>
          <a:ext cx="5343523" cy="1345891"/>
        </p:xfrm>
        <a:graphic>
          <a:graphicData uri="http://schemas.openxmlformats.org/drawingml/2006/table">
            <a:tbl>
              <a:tblPr firstRow="1" firstCol="1" bandRow="1"/>
              <a:tblGrid>
                <a:gridCol w="970930"/>
                <a:gridCol w="1158303"/>
                <a:gridCol w="1041621"/>
                <a:gridCol w="844879"/>
                <a:gridCol w="1327790"/>
              </a:tblGrid>
              <a:tr h="31754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Model</a:t>
                      </a:r>
                      <a:endParaRPr lang="en-IN" sz="1100">
                        <a:effectLst/>
                        <a:latin typeface="Cambria"/>
                        <a:ea typeface="MS Mincho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Precision (P)</a:t>
                      </a:r>
                      <a:endParaRPr lang="en-IN" sz="1100">
                        <a:effectLst/>
                        <a:latin typeface="Cambria"/>
                        <a:ea typeface="MS Mincho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Recall (R)</a:t>
                      </a:r>
                      <a:endParaRPr lang="en-IN" sz="1100">
                        <a:effectLst/>
                        <a:latin typeface="Cambria"/>
                        <a:ea typeface="MS Mincho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mAP50</a:t>
                      </a:r>
                      <a:endParaRPr lang="en-IN" sz="1100">
                        <a:effectLst/>
                        <a:latin typeface="Cambria"/>
                        <a:ea typeface="MS Mincho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mAP50-95</a:t>
                      </a:r>
                      <a:endParaRPr lang="en-IN" sz="1100">
                        <a:effectLst/>
                        <a:latin typeface="Cambria"/>
                        <a:ea typeface="MS Mincho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417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YOLOv8 Baseline</a:t>
                      </a:r>
                      <a:endParaRPr lang="en-IN" sz="1100">
                        <a:effectLst/>
                        <a:latin typeface="Cambria"/>
                        <a:ea typeface="MS Mincho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0.353</a:t>
                      </a:r>
                      <a:endParaRPr lang="en-IN" sz="1100">
                        <a:effectLst/>
                        <a:latin typeface="Cambria"/>
                        <a:ea typeface="MS Mincho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b="1">
                          <a:solidFill>
                            <a:srgbClr val="00B050"/>
                          </a:solidFill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0.234</a:t>
                      </a:r>
                      <a:endParaRPr lang="en-IN" sz="1100">
                        <a:effectLst/>
                        <a:latin typeface="Cambria"/>
                        <a:ea typeface="MS Mincho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0.206</a:t>
                      </a:r>
                      <a:endParaRPr lang="en-IN" sz="1100">
                        <a:effectLst/>
                        <a:latin typeface="Cambria"/>
                        <a:ea typeface="MS Mincho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0.099</a:t>
                      </a:r>
                      <a:endParaRPr lang="en-IN" sz="1100">
                        <a:effectLst/>
                        <a:latin typeface="Cambria"/>
                        <a:ea typeface="MS Mincho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417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YOLOv8 Reasoner</a:t>
                      </a:r>
                      <a:endParaRPr lang="en-IN" sz="1100">
                        <a:effectLst/>
                        <a:latin typeface="Cambria"/>
                        <a:ea typeface="MS Mincho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b="1">
                          <a:solidFill>
                            <a:srgbClr val="00B050"/>
                          </a:solidFill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0.388</a:t>
                      </a:r>
                      <a:endParaRPr lang="en-IN" sz="1100">
                        <a:effectLst/>
                        <a:latin typeface="Cambria"/>
                        <a:ea typeface="MS Mincho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0.231</a:t>
                      </a:r>
                      <a:endParaRPr lang="en-IN" sz="1100">
                        <a:effectLst/>
                        <a:latin typeface="Cambria"/>
                        <a:ea typeface="MS Mincho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b="1">
                          <a:solidFill>
                            <a:srgbClr val="00B050"/>
                          </a:solidFill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0.213</a:t>
                      </a:r>
                      <a:endParaRPr lang="en-IN" sz="1100">
                        <a:effectLst/>
                        <a:latin typeface="Cambria"/>
                        <a:ea typeface="MS Mincho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rgbClr val="00B050"/>
                          </a:solidFill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0.105</a:t>
                      </a:r>
                      <a:endParaRPr lang="en-IN" sz="1100" dirty="0">
                        <a:effectLst/>
                        <a:latin typeface="Cambria"/>
                        <a:ea typeface="MS Mincho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8352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09600" y="457200"/>
            <a:ext cx="32676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Key </a:t>
            </a:r>
            <a:r>
              <a:rPr lang="en-US" b="1" dirty="0"/>
              <a:t>Observations - </a:t>
            </a:r>
            <a:r>
              <a:rPr lang="en-US" b="1" dirty="0" err="1"/>
              <a:t>BoxPR_curve</a:t>
            </a:r>
            <a:endParaRPr lang="en-IN" b="1" dirty="0"/>
          </a:p>
        </p:txBody>
      </p:sp>
      <p:pic>
        <p:nvPicPr>
          <p:cNvPr id="2050" name="Picture 2" descr="F:\WORK\ir-reasoner-main\yolov8_reasoner\final_setup_working\YOLOV8-IR-20260505_v02\YOLOV8-IR_v02\ultralytics-main\runs\detect\flir_experiments\yolov8_reasoner-7\BoxPR_curve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333500"/>
            <a:ext cx="4267200" cy="3649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574963" y="1143000"/>
            <a:ext cx="20574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>
                <a:solidFill>
                  <a:srgbClr val="0070C0"/>
                </a:solidFill>
              </a:rPr>
              <a:t>Reasoner</a:t>
            </a:r>
            <a:endParaRPr lang="en-IN" b="1" dirty="0">
              <a:solidFill>
                <a:srgbClr val="0070C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81000" y="4982620"/>
            <a:ext cx="756458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BoxPR_curve.png (The Score): The </a:t>
            </a:r>
            <a:r>
              <a:rPr lang="en-US" dirty="0" err="1"/>
              <a:t>Reasoner</a:t>
            </a:r>
            <a:r>
              <a:rPr lang="en-US" dirty="0"/>
              <a:t> reaches a higher score (0.211) than the Baseline (0.204). It shows that even with the same data, the </a:t>
            </a:r>
            <a:r>
              <a:rPr lang="en-US" dirty="0" err="1"/>
              <a:t>Reasoner</a:t>
            </a:r>
            <a:r>
              <a:rPr lang="en-US" dirty="0"/>
              <a:t> extracts more intelligence and finds difficult objects like "Bus" and "Motorcycle" better.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1875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09600" y="457200"/>
            <a:ext cx="35817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Key </a:t>
            </a:r>
            <a:r>
              <a:rPr lang="en-US" b="1" dirty="0"/>
              <a:t>Observations - </a:t>
            </a:r>
            <a:r>
              <a:rPr lang="en-US" b="1" dirty="0" smtClean="0"/>
              <a:t>results(Stability)</a:t>
            </a:r>
            <a:endParaRPr lang="en-IN" b="1" dirty="0"/>
          </a:p>
        </p:txBody>
      </p:sp>
      <p:sp>
        <p:nvSpPr>
          <p:cNvPr id="5" name="TextBox 4"/>
          <p:cNvSpPr txBox="1"/>
          <p:nvPr/>
        </p:nvSpPr>
        <p:spPr>
          <a:xfrm>
            <a:off x="387927" y="959427"/>
            <a:ext cx="20574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>
                <a:solidFill>
                  <a:srgbClr val="0070C0"/>
                </a:solidFill>
              </a:rPr>
              <a:t>Reasoner</a:t>
            </a:r>
            <a:endParaRPr lang="en-IN" b="1" dirty="0">
              <a:solidFill>
                <a:srgbClr val="0070C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81000" y="5582784"/>
            <a:ext cx="756458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The </a:t>
            </a:r>
            <a:r>
              <a:rPr lang="en-US" dirty="0" err="1"/>
              <a:t>Reasoner</a:t>
            </a:r>
            <a:r>
              <a:rPr lang="en-US" dirty="0"/>
              <a:t> shows smooth, clean curves. Unlike the Baseline, which is jittery and unstable, the </a:t>
            </a:r>
            <a:r>
              <a:rPr lang="en-US" dirty="0" err="1"/>
              <a:t>Reasoner</a:t>
            </a:r>
            <a:r>
              <a:rPr lang="en-US" dirty="0"/>
              <a:t> proves it has a "steady hand" and learns in a much more organized way.</a:t>
            </a:r>
            <a:endParaRPr lang="en-IN" dirty="0"/>
          </a:p>
        </p:txBody>
      </p:sp>
      <p:pic>
        <p:nvPicPr>
          <p:cNvPr id="3074" name="Picture 2" descr="F:\WORK\ir-reasoner-main\yolov8_reasoner\final_setup_working\YOLOV8-IR-20260505_v02\YOLOV8-IR_v02\ultralytics-main\runs\detect\flir_experiments\yolov8_reasoner-7\results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340427"/>
            <a:ext cx="7848600" cy="3924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79971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09600" y="457200"/>
            <a:ext cx="26343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Key </a:t>
            </a:r>
            <a:r>
              <a:rPr lang="en-US" b="1" dirty="0"/>
              <a:t>Observations - </a:t>
            </a:r>
            <a:r>
              <a:rPr lang="en-US" dirty="0" smtClean="0"/>
              <a:t>labels</a:t>
            </a:r>
            <a:endParaRPr lang="en-IN" b="1" dirty="0"/>
          </a:p>
        </p:txBody>
      </p:sp>
      <p:sp>
        <p:nvSpPr>
          <p:cNvPr id="5" name="TextBox 4"/>
          <p:cNvSpPr txBox="1"/>
          <p:nvPr/>
        </p:nvSpPr>
        <p:spPr>
          <a:xfrm>
            <a:off x="387927" y="959427"/>
            <a:ext cx="20574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>
                <a:solidFill>
                  <a:srgbClr val="0070C0"/>
                </a:solidFill>
              </a:rPr>
              <a:t>Reasoner</a:t>
            </a:r>
            <a:endParaRPr lang="en-IN" b="1" dirty="0">
              <a:solidFill>
                <a:srgbClr val="0070C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81000" y="5582784"/>
            <a:ext cx="756458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(</a:t>
            </a:r>
            <a:r>
              <a:rPr lang="en-US" dirty="0"/>
              <a:t>The Data Context): This graph clearly shows the "Data Gap." It’s the visual evidence that the model is performing perfectly for what it was taught (Cars/People), and the only thing holding it back is the limited sample size for other items.</a:t>
            </a:r>
            <a:endParaRPr lang="en-IN" dirty="0"/>
          </a:p>
        </p:txBody>
      </p:sp>
      <p:pic>
        <p:nvPicPr>
          <p:cNvPr id="4098" name="Picture 2" descr="F:\WORK\ir-reasoner-main\yolov8_reasoner\final_setup_working\YOLOV8-IR-20260505_v02\YOLOV8-IR_v02\ultralytics-main\runs\detect\flir_experiments\yolov8_reasoner-7\label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340426"/>
            <a:ext cx="7543799" cy="4062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3292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09600" y="457200"/>
            <a:ext cx="26343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Current Status &amp; Success</a:t>
            </a:r>
            <a:endParaRPr lang="en-IN" b="1" dirty="0"/>
          </a:p>
        </p:txBody>
      </p:sp>
      <p:sp>
        <p:nvSpPr>
          <p:cNvPr id="2" name="Rectangle 1"/>
          <p:cNvSpPr/>
          <p:nvPr/>
        </p:nvSpPr>
        <p:spPr>
          <a:xfrm>
            <a:off x="533400" y="1066800"/>
            <a:ext cx="754380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The YOLO </a:t>
            </a:r>
            <a:r>
              <a:rPr lang="en-US" dirty="0" err="1"/>
              <a:t>Reasoner</a:t>
            </a:r>
            <a:r>
              <a:rPr lang="en-US" dirty="0"/>
              <a:t> has successfully outperformed the standard Baseline in both accuracy and learning stability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We </a:t>
            </a:r>
            <a:r>
              <a:rPr lang="en-US" dirty="0"/>
              <a:t>have achieved a high-quality "</a:t>
            </a:r>
            <a:r>
              <a:rPr lang="en-US" dirty="0" err="1"/>
              <a:t>Reasoner</a:t>
            </a:r>
            <a:r>
              <a:rPr lang="en-US" dirty="0"/>
              <a:t> Model" that is extremely reliable (91% Precision).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current performance reflects a targeted training phase focused on proving the architecture works under restricted GPU resources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b="1" dirty="0" smtClean="0"/>
              <a:t>Key </a:t>
            </a:r>
            <a:r>
              <a:rPr lang="en-US" b="1" dirty="0"/>
              <a:t>Takeaway: </a:t>
            </a:r>
            <a:endParaRPr lang="en-US" b="1" dirty="0" smtClean="0"/>
          </a:p>
          <a:p>
            <a:r>
              <a:rPr lang="en-US" dirty="0" smtClean="0"/>
              <a:t>The </a:t>
            </a:r>
            <a:r>
              <a:rPr lang="en-US" dirty="0"/>
              <a:t>"brain" (the </a:t>
            </a:r>
            <a:r>
              <a:rPr lang="en-US" dirty="0" err="1"/>
              <a:t>Reasoner</a:t>
            </a:r>
            <a:r>
              <a:rPr lang="en-US" dirty="0"/>
              <a:t>) is now fully optimized. </a:t>
            </a:r>
            <a:endParaRPr lang="en-US" dirty="0" smtClean="0"/>
          </a:p>
          <a:p>
            <a:r>
              <a:rPr lang="en-US" dirty="0" smtClean="0"/>
              <a:t>We </a:t>
            </a:r>
            <a:r>
              <a:rPr lang="en-US" dirty="0"/>
              <a:t>have proven that the architecture is stable and superior to the baseline; the next step is simply a "Full Scale" training run.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64516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09600" y="457200"/>
            <a:ext cx="39203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The Path Forward to Peak Performance</a:t>
            </a:r>
            <a:endParaRPr lang="en-IN" b="1" dirty="0"/>
          </a:p>
        </p:txBody>
      </p:sp>
      <p:sp>
        <p:nvSpPr>
          <p:cNvPr id="2" name="Rectangle 1"/>
          <p:cNvSpPr/>
          <p:nvPr/>
        </p:nvSpPr>
        <p:spPr>
          <a:xfrm>
            <a:off x="533400" y="1066800"/>
            <a:ext cx="75438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Full Dataset Training: </a:t>
            </a:r>
            <a:endParaRPr lang="en-US" b="1" dirty="0" smtClean="0"/>
          </a:p>
          <a:p>
            <a:r>
              <a:rPr lang="en-US" dirty="0" smtClean="0"/>
              <a:t>By </a:t>
            </a:r>
            <a:r>
              <a:rPr lang="en-US" dirty="0"/>
              <a:t>moving from this "focused" dataset to the full version, we can close the gap for rare classes seen in labels.jpg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We </a:t>
            </a:r>
            <a:r>
              <a:rPr lang="en-US" dirty="0"/>
              <a:t>have achieved a high-quality "</a:t>
            </a:r>
            <a:r>
              <a:rPr lang="en-US" dirty="0" err="1"/>
              <a:t>Reasoner</a:t>
            </a:r>
            <a:r>
              <a:rPr lang="en-US" dirty="0"/>
              <a:t> Model" that is extremely reliable (91% Precision). </a:t>
            </a:r>
            <a:endParaRPr lang="en-US" dirty="0" smtClean="0"/>
          </a:p>
          <a:p>
            <a:endParaRPr lang="en-US" dirty="0" smtClean="0"/>
          </a:p>
          <a:p>
            <a:r>
              <a:rPr lang="en-US" b="1" dirty="0"/>
              <a:t>Resource Scaling: </a:t>
            </a:r>
            <a:endParaRPr lang="en-US" b="1" dirty="0" smtClean="0"/>
          </a:p>
          <a:p>
            <a:r>
              <a:rPr lang="en-US" dirty="0" smtClean="0"/>
              <a:t>With </a:t>
            </a:r>
            <a:r>
              <a:rPr lang="en-US" dirty="0"/>
              <a:t>additional GPU time, we can extend the training beyond 100 epochs. Since the results.png curves are still improving at the end, more time will naturally lead to a much higher final score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b="1" dirty="0"/>
              <a:t>Data Rebalancing: </a:t>
            </a:r>
            <a:endParaRPr lang="en-US" b="1" dirty="0" smtClean="0"/>
          </a:p>
          <a:p>
            <a:r>
              <a:rPr lang="en-US" dirty="0"/>
              <a:t>Now </a:t>
            </a:r>
            <a:r>
              <a:rPr lang="en-US" dirty="0"/>
              <a:t>that the </a:t>
            </a:r>
            <a:r>
              <a:rPr lang="en-US" dirty="0" err="1"/>
              <a:t>Reasoner</a:t>
            </a:r>
            <a:r>
              <a:rPr lang="en-US" dirty="0"/>
              <a:t> has proven it can learn, we can use "Data Boosting" (showing the model more of the rare items) to ensure every category performs as well as the "Car" class.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50458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1066800"/>
            <a:ext cx="75438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 smtClean="0"/>
              <a:t>Conclusion:</a:t>
            </a:r>
          </a:p>
          <a:p>
            <a:endParaRPr lang="en-IN" dirty="0"/>
          </a:p>
          <a:p>
            <a:r>
              <a:rPr lang="en-IN" dirty="0"/>
              <a:t>At 100 epochs, </a:t>
            </a:r>
            <a:r>
              <a:rPr lang="en-IN" b="1" dirty="0"/>
              <a:t>YOLOv8‑IR‑Reasoner demonstrates better detection quality than standard YOLOv8</a:t>
            </a:r>
            <a:r>
              <a:rPr lang="en-IN" dirty="0"/>
              <a:t>, particularly in terms of precision and </a:t>
            </a:r>
            <a:r>
              <a:rPr lang="en-IN" dirty="0" err="1"/>
              <a:t>mAP</a:t>
            </a:r>
            <a:r>
              <a:rPr lang="en-IN" dirty="0"/>
              <a:t>, while preserving recall</a:t>
            </a:r>
            <a:r>
              <a:rPr lang="en-IN" dirty="0" smtClean="0"/>
              <a:t>.</a:t>
            </a:r>
          </a:p>
          <a:p>
            <a:r>
              <a:rPr lang="en-IN" dirty="0"/>
              <a:t/>
            </a:r>
            <a:br>
              <a:rPr lang="en-IN" dirty="0"/>
            </a:br>
            <a:r>
              <a:rPr lang="en-IN" dirty="0"/>
              <a:t>These results confirm that integrating spatial reasoning into YOLOv8 provides measurable benefits for thermal object detection under controlled conditions.</a:t>
            </a:r>
          </a:p>
        </p:txBody>
      </p:sp>
    </p:spTree>
    <p:extLst>
      <p:ext uri="{BB962C8B-B14F-4D97-AF65-F5344CB8AC3E}">
        <p14:creationId xmlns:p14="http://schemas.microsoft.com/office/powerpoint/2010/main" val="11989876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8194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Next Slides have graphs for Baseline </a:t>
            </a:r>
            <a:br>
              <a:rPr lang="en-US" dirty="0" smtClean="0"/>
            </a:br>
            <a:r>
              <a:rPr lang="en-US" dirty="0" smtClean="0"/>
              <a:t>(if needed)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82588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09600" y="457200"/>
            <a:ext cx="32676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Key </a:t>
            </a:r>
            <a:r>
              <a:rPr lang="en-US" b="1" dirty="0"/>
              <a:t>Observations - </a:t>
            </a:r>
            <a:r>
              <a:rPr lang="en-US" b="1" dirty="0" err="1"/>
              <a:t>BoxPR_curve</a:t>
            </a:r>
            <a:endParaRPr lang="en-IN" b="1" dirty="0"/>
          </a:p>
        </p:txBody>
      </p:sp>
      <p:sp>
        <p:nvSpPr>
          <p:cNvPr id="5" name="TextBox 4"/>
          <p:cNvSpPr txBox="1"/>
          <p:nvPr/>
        </p:nvSpPr>
        <p:spPr>
          <a:xfrm>
            <a:off x="574963" y="1143000"/>
            <a:ext cx="20574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70C0"/>
                </a:solidFill>
              </a:rPr>
              <a:t>Baseline</a:t>
            </a:r>
            <a:endParaRPr lang="en-IN" b="1" dirty="0">
              <a:solidFill>
                <a:srgbClr val="0070C0"/>
              </a:solidFill>
            </a:endParaRPr>
          </a:p>
        </p:txBody>
      </p:sp>
      <p:pic>
        <p:nvPicPr>
          <p:cNvPr id="5122" name="Picture 2" descr="F:\WORK\ir-reasoner-main\yolov8_reasoner\final_setup_working\YOLOV8-IR-20260505_v02\YOLOV8-IR_v02\ultralytics-main\runs\detect\flir_experiments\yolov8_baseline\BoxPR_curve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524000"/>
            <a:ext cx="7543800" cy="502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37412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09600" y="457200"/>
            <a:ext cx="35817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Key </a:t>
            </a:r>
            <a:r>
              <a:rPr lang="en-US" b="1" dirty="0"/>
              <a:t>Observations - </a:t>
            </a:r>
            <a:r>
              <a:rPr lang="en-US" b="1" dirty="0" smtClean="0"/>
              <a:t>results(Stability)</a:t>
            </a:r>
            <a:endParaRPr lang="en-IN" b="1" dirty="0"/>
          </a:p>
        </p:txBody>
      </p:sp>
      <p:sp>
        <p:nvSpPr>
          <p:cNvPr id="5" name="TextBox 4"/>
          <p:cNvSpPr txBox="1"/>
          <p:nvPr/>
        </p:nvSpPr>
        <p:spPr>
          <a:xfrm>
            <a:off x="387927" y="959427"/>
            <a:ext cx="20574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70C0"/>
                </a:solidFill>
              </a:rPr>
              <a:t>Baseline</a:t>
            </a:r>
            <a:endParaRPr lang="en-IN" b="1" dirty="0">
              <a:solidFill>
                <a:srgbClr val="0070C0"/>
              </a:solidFill>
            </a:endParaRPr>
          </a:p>
        </p:txBody>
      </p:sp>
      <p:pic>
        <p:nvPicPr>
          <p:cNvPr id="6146" name="Picture 2" descr="F:\WORK\ir-reasoner-main\yolov8_reasoner\final_setup_working\YOLOV8-IR-20260505_v02\YOLOV8-IR_v02\ultralytics-main\runs\detect\flir_experiments\yolov8_baseline\results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527" y="1752600"/>
            <a:ext cx="82296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08718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09600" y="457200"/>
            <a:ext cx="26343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Key </a:t>
            </a:r>
            <a:r>
              <a:rPr lang="en-US" b="1" dirty="0"/>
              <a:t>Observations - </a:t>
            </a:r>
            <a:r>
              <a:rPr lang="en-US" dirty="0" smtClean="0"/>
              <a:t>labels</a:t>
            </a:r>
            <a:endParaRPr lang="en-IN" b="1" dirty="0"/>
          </a:p>
        </p:txBody>
      </p:sp>
      <p:sp>
        <p:nvSpPr>
          <p:cNvPr id="5" name="TextBox 4"/>
          <p:cNvSpPr txBox="1"/>
          <p:nvPr/>
        </p:nvSpPr>
        <p:spPr>
          <a:xfrm>
            <a:off x="387927" y="959427"/>
            <a:ext cx="20574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70C0"/>
                </a:solidFill>
              </a:rPr>
              <a:t>Baseline</a:t>
            </a:r>
            <a:endParaRPr lang="en-IN" b="1" dirty="0">
              <a:solidFill>
                <a:srgbClr val="0070C0"/>
              </a:solidFill>
            </a:endParaRPr>
          </a:p>
        </p:txBody>
      </p:sp>
      <p:pic>
        <p:nvPicPr>
          <p:cNvPr id="7170" name="Picture 2" descr="F:\WORK\ir-reasoner-main\yolov8_reasoner\final_setup_working\YOLOV8-IR-20260505_v02\YOLOV8-IR_v02\ultralytics-main\runs\detect\flir_experiments\yolov8_baseline\labels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991" y="1524000"/>
            <a:ext cx="5791200" cy="449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84806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09600" y="457200"/>
            <a:ext cx="8689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Results</a:t>
            </a:r>
          </a:p>
        </p:txBody>
      </p:sp>
      <p:pic>
        <p:nvPicPr>
          <p:cNvPr id="8194" name="Picture 2" descr="F:\WORK\ir-reasoner-main\yolov8_reasoner\final_setup_working\YOLOV8-IR-20260505_v02\YOLOV8-IR_v02\ultralytics-main\runs\detect\flir_inference_results_batch\stitched_results\stitched_video-4FRnNpmSmwktFJKjg-frame-000745-L6K5SC6fYjHNC8uff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486" y="1295400"/>
            <a:ext cx="8229600" cy="2194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5" name="Picture 3" descr="F:\WORK\ir-reasoner-main\yolov8_reasoner\final_setup_working\YOLOV8-IR-20260505_v02\YOLOV8-IR_v02\ultralytics-main\runs\detect\flir_inference_results_batch\stitched_results\stitched_video-6tLtjdkv5K5BuhB37-frame-000058-XnbHMehqXsxpNdcRi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657600"/>
            <a:ext cx="8265886" cy="2397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39044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09600" y="457200"/>
            <a:ext cx="8689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Results</a:t>
            </a:r>
          </a:p>
        </p:txBody>
      </p:sp>
      <p:pic>
        <p:nvPicPr>
          <p:cNvPr id="9218" name="Picture 2" descr="F:\WORK\ir-reasoner-main\yolov8_reasoner\final_setup_working\YOLOV8-IR-20260505_v02\YOLOV8-IR_v02\ultralytics-main\runs\detect\flir_inference_results_batch\stitched_results\stitched_video-ePoikf5LyTTfqchga-frame-000395-biTgPTGh8Qb5mQcSM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907812"/>
            <a:ext cx="8265886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9" name="Picture 3" descr="F:\WORK\ir-reasoner-main\yolov8_reasoner\final_setup_working\YOLOV8-IR-20260505_v02\YOLOV8-IR_v02\ultralytics-main\runs\detect\flir_inference_results_batch\stitched_results\stitched_video-vbrSzr4vFTm5QwuGH-frame-000452-YdpLwa5RJgeobKqZp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603171"/>
            <a:ext cx="8265886" cy="264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2957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490</Words>
  <Application>Microsoft Office PowerPoint</Application>
  <PresentationFormat>On-screen Show (4:3)</PresentationFormat>
  <Paragraphs>61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Next Slides have graphs for Baseline  (if needed)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Sourabh</dc:creator>
  <cp:lastModifiedBy>HP</cp:lastModifiedBy>
  <cp:revision>4</cp:revision>
  <dcterms:created xsi:type="dcterms:W3CDTF">2006-08-16T00:00:00Z</dcterms:created>
  <dcterms:modified xsi:type="dcterms:W3CDTF">2026-05-08T15:07:14Z</dcterms:modified>
</cp:coreProperties>
</file>